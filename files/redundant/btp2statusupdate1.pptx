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43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9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30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6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81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4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763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4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3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123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25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291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42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78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1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9B57C82-9621-45A5-95CE-860A618CD86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189A2E91-C256-4B5E-B1B9-421A28C8C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1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F0DF-114C-5AB1-D1FD-EA8248519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BTP2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ECBA0-2044-51CD-1EE3-4E728E209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UTSAVI GOHIL | 22CS30058</a:t>
            </a:r>
          </a:p>
        </p:txBody>
      </p:sp>
    </p:spTree>
    <p:extLst>
      <p:ext uri="{BB962C8B-B14F-4D97-AF65-F5344CB8AC3E}">
        <p14:creationId xmlns:p14="http://schemas.microsoft.com/office/powerpoint/2010/main" val="120479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37C9-9463-3B2D-D32F-34A12A42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Project Scope &amp; Dataset</a:t>
            </a:r>
            <a:br>
              <a:rPr lang="en-US" sz="2000" dirty="0"/>
            </a:br>
            <a:r>
              <a:rPr lang="en-US" sz="2000" b="1" dirty="0"/>
              <a:t>Objective:</a:t>
            </a:r>
            <a:r>
              <a:rPr lang="en-US" sz="2000" dirty="0"/>
              <a:t> Constructing a validated Video Library for Emotional Drift (Therapeutic Application).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DEFCA-AB95-C5C3-A703-9B0681203D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Dataset:</a:t>
                </a:r>
                <a:r>
                  <a:rPr lang="en-IN" dirty="0"/>
                  <a:t> 6 Participants, 274 Movie Clips, synced with Fitbit Physiological Signals (HR).</a:t>
                </a:r>
              </a:p>
              <a:p>
                <a:r>
                  <a:rPr lang="en-IN" b="1" dirty="0"/>
                  <a:t>Temporal Logic:</a:t>
                </a:r>
                <a:r>
                  <a:rPr lang="en-IN" dirty="0"/>
                  <a:t> Implemented </a:t>
                </a:r>
                <a:r>
                  <a:rPr lang="en-IN" b="1" dirty="0"/>
                  <a:t>"Emotional Chaining"</a:t>
                </a:r>
                <a:r>
                  <a:rPr lang="en-IN" dirty="0"/>
                  <a:t>: The Induced Emotion (</a:t>
                </a:r>
                <a14:m>
                  <m:oMath xmlns:m="http://schemas.openxmlformats.org/officeDocument/2006/math">
                    <m:r>
                      <a:rPr lang="en-IN" i="1"/>
                      <m:t>𝑖</m:t>
                    </m:r>
                  </m:oMath>
                </a14:m>
                <a:r>
                  <a:rPr lang="en-IN" dirty="0"/>
                  <a:t>) of Clip </a:t>
                </a:r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</m:oMath>
                </a14:m>
                <a:r>
                  <a:rPr lang="en-IN" dirty="0"/>
                  <a:t> becomes the Initial Emotion (</a:t>
                </a:r>
                <a14:m>
                  <m:oMath xmlns:m="http://schemas.openxmlformats.org/officeDocument/2006/math">
                    <m:r>
                      <a:rPr lang="en-IN" i="1"/>
                      <m:t>𝑝</m:t>
                    </m:r>
                  </m:oMath>
                </a14:m>
                <a:r>
                  <a:rPr lang="en-IN" dirty="0"/>
                  <a:t>) of Clip </a:t>
                </a:r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  <m:r>
                      <a:rPr lang="en-IN"/>
                      <m:t>+</m:t>
                    </m:r>
                    <m:r>
                      <a:rPr lang="en-IN"/>
                      <m:t>1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b="1" dirty="0"/>
                  <a:t>Core Variables: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𝑒</m:t>
                    </m:r>
                  </m:oMath>
                </a14:m>
                <a:r>
                  <a:rPr lang="en-IN" b="1" dirty="0"/>
                  <a:t> (Expressed):</a:t>
                </a:r>
                <a:r>
                  <a:rPr lang="en-IN" dirty="0"/>
                  <a:t> Ground truth emotion of the clip (Audio/Video).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𝑝</m:t>
                    </m:r>
                  </m:oMath>
                </a14:m>
                <a:r>
                  <a:rPr lang="en-IN" b="1" dirty="0"/>
                  <a:t> (Perceived):</a:t>
                </a:r>
                <a:r>
                  <a:rPr lang="en-IN" dirty="0"/>
                  <a:t> What the user </a:t>
                </a:r>
                <a:r>
                  <a:rPr lang="en-IN" i="1" dirty="0"/>
                  <a:t>understood</a:t>
                </a:r>
                <a:r>
                  <a:rPr lang="en-IN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𝑖</m:t>
                        </m:r>
                      </m:e>
                      <m:sub>
                        <m:r>
                          <a:rPr lang="ar-AE" i="1"/>
                          <m:t>𝑟𝑒𝑝𝑜𝑟𝑡𝑒𝑑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IN" dirty="0"/>
                  <a:t>:What the user </a:t>
                </a:r>
                <a:r>
                  <a:rPr lang="en-IN" i="1" dirty="0"/>
                  <a:t>said</a:t>
                </a:r>
                <a:r>
                  <a:rPr lang="en-IN" dirty="0"/>
                  <a:t> they felt.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𝑖</m:t>
                        </m:r>
                      </m:e>
                      <m:sub>
                        <m:r>
                          <a:rPr lang="ar-AE" i="1"/>
                          <m:t>𝑖𝑛𝑓𝑒𝑟𝑟𝑒𝑑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IN" dirty="0"/>
                  <a:t>:What the user's </a:t>
                </a:r>
                <a:r>
                  <a:rPr lang="en-IN" i="1" dirty="0"/>
                  <a:t>body</a:t>
                </a:r>
                <a:r>
                  <a:rPr lang="en-IN" dirty="0"/>
                  <a:t> felt (derived from Heart Rate).</a:t>
                </a:r>
              </a:p>
              <a:p>
                <a:pPr lvl="1"/>
                <a:endParaRPr lang="en-IN" sz="105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DEFCA-AB95-C5C3-A703-9B0681203D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" t="-891" r="-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96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ECA0-EE1C-305C-3F24-FA412DDA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Data Processing &amp; Physiological Inference</a:t>
            </a:r>
            <a:br>
              <a:rPr lang="en-IN" sz="2400" b="1" dirty="0"/>
            </a:br>
            <a:r>
              <a:rPr lang="en-US" sz="2000" b="1" dirty="0"/>
              <a:t>Methodology:</a:t>
            </a:r>
            <a:r>
              <a:rPr lang="en-US" sz="2000" dirty="0"/>
              <a:t> Converting raw signals into emotional data points.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394EB-A837-44E8-E4F4-2669371EE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Syncing:</a:t>
                </a:r>
                <a:r>
                  <a:rPr lang="en-IN" dirty="0"/>
                  <a:t> Aligned Fitbit Heart Rate timestamps to movie start/end times for 1,369 total sessions.</a:t>
                </a:r>
              </a:p>
              <a:p>
                <a:r>
                  <a:rPr lang="en-IN" b="1" dirty="0"/>
                  <a:t>AI Inference:</a:t>
                </a:r>
                <a:r>
                  <a:rPr lang="en-IN" dirty="0"/>
                  <a:t> Processed sessions using </a:t>
                </a:r>
                <a:r>
                  <a:rPr lang="en-IN" b="1" dirty="0"/>
                  <a:t>Llama-3-70B/8B (</a:t>
                </a:r>
                <a:r>
                  <a:rPr lang="en-IN" b="1" dirty="0" err="1"/>
                  <a:t>Groq</a:t>
                </a:r>
                <a:r>
                  <a:rPr lang="en-IN" b="1" dirty="0"/>
                  <a:t>)</a:t>
                </a:r>
                <a:r>
                  <a:rPr lang="en-IN" dirty="0"/>
                  <a:t> to infer valence/arousal from heart rate sequences.</a:t>
                </a:r>
              </a:p>
              <a:p>
                <a:r>
                  <a:rPr lang="en-IN" b="1" dirty="0"/>
                  <a:t>Context Enhancement:</a:t>
                </a:r>
                <a:r>
                  <a:rPr lang="en-IN" dirty="0"/>
                  <a:t> Prompted the AI with User Profiles (Resonance rates) + Movie Metadata (</a:t>
                </a:r>
                <a14:m>
                  <m:oMath xmlns:m="http://schemas.openxmlformats.org/officeDocument/2006/math">
                    <m:r>
                      <a:rPr lang="en-IN" i="1"/>
                      <m:t>𝐶𝑙𝑖𝑝𝑇𝑖𝑡𝑙𝑒</m:t>
                    </m:r>
                  </m:oMath>
                </a14:m>
                <a:r>
                  <a:rPr lang="en-IN" dirty="0"/>
                  <a:t>) to ensure accuracy.</a:t>
                </a:r>
              </a:p>
              <a:p>
                <a:r>
                  <a:rPr lang="en-IN" b="1" dirty="0"/>
                  <a:t>Outcome:</a:t>
                </a:r>
                <a:r>
                  <a:rPr lang="en-IN" dirty="0"/>
                  <a:t> Generated llm_results_final2.csv, enabling a direct comparison between conscious reports and biological reality.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394EB-A837-44E8-E4F4-2669371EE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" t="-891" r="-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46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75D3-8FFD-231F-27B8-C1EF365D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Technical Filtering (Usefulness Logic)</a:t>
            </a:r>
            <a:br>
              <a:rPr lang="en-US" sz="2000" dirty="0"/>
            </a:br>
            <a:r>
              <a:rPr lang="en-US" sz="2000" b="1" dirty="0"/>
              <a:t>Methodology:</a:t>
            </a:r>
            <a:r>
              <a:rPr lang="en-US" sz="2000" dirty="0"/>
              <a:t> Pre-screening clips to remove technical noise (Case 1).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D9890-4F9D-4BD7-CFB3-C5A5C95D50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Audio Filter:</a:t>
                </a:r>
                <a:r>
                  <a:rPr lang="en-US" dirty="0"/>
                  <a:t> Rejected if Music Prob </a:t>
                </a:r>
                <a14:m>
                  <m:oMath xmlns:m="http://schemas.openxmlformats.org/officeDocument/2006/math">
                    <m:r>
                      <a:rPr lang="en-US"/>
                      <m:t>≥</m:t>
                    </m:r>
                  </m:oMath>
                </a14:m>
                <a:r>
                  <a:rPr lang="en-US" dirty="0"/>
                  <a:t>0.50 OR Voice Ratio </a:t>
                </a:r>
                <a14:m>
                  <m:oMath xmlns:m="http://schemas.openxmlformats.org/officeDocument/2006/math">
                    <m:r>
                      <a:rPr lang="en-US"/>
                      <m:t>≤</m:t>
                    </m:r>
                  </m:oMath>
                </a14:m>
                <a:r>
                  <a:rPr lang="en-US" dirty="0"/>
                  <a:t> 0.10.</a:t>
                </a:r>
              </a:p>
              <a:p>
                <a:r>
                  <a:rPr lang="en-US" b="1" dirty="0"/>
                  <a:t>Video Filter:</a:t>
                </a:r>
                <a:r>
                  <a:rPr lang="en-US" dirty="0"/>
                  <a:t> Rejected based on "Non-Useful" labels from the analysis tool.</a:t>
                </a:r>
              </a:p>
              <a:p>
                <a:r>
                  <a:rPr lang="en-US" b="1" dirty="0"/>
                  <a:t>Rejection Result:</a:t>
                </a:r>
                <a:r>
                  <a:rPr lang="en-US" dirty="0"/>
                  <a:t> </a:t>
                </a:r>
                <a:r>
                  <a:rPr lang="en-US" b="1" dirty="0"/>
                  <a:t>82 clips</a:t>
                </a:r>
                <a:r>
                  <a:rPr lang="en-US" dirty="0"/>
                  <a:t> were completely omitted (Both Audio &amp; Video failed).</a:t>
                </a:r>
              </a:p>
              <a:p>
                <a:r>
                  <a:rPr lang="en-US" b="1" dirty="0"/>
                  <a:t>Final Yield:</a:t>
                </a:r>
                <a:r>
                  <a:rPr lang="en-US" dirty="0"/>
                  <a:t> </a:t>
                </a:r>
                <a:r>
                  <a:rPr lang="en-US" b="1" dirty="0"/>
                  <a:t>192 high-quality clips</a:t>
                </a:r>
                <a:r>
                  <a:rPr lang="en-US" dirty="0"/>
                  <a:t> retained for expressed emotion(ground truth) extraction.</a:t>
                </a:r>
              </a:p>
              <a:p>
                <a:r>
                  <a:rPr lang="en-US" b="1" dirty="0"/>
                  <a:t>Logic:</a:t>
                </a:r>
                <a:r>
                  <a:rPr lang="en-US" dirty="0"/>
                  <a:t> Ensures the "Emotional Engine" is built only on clear, high-signal content.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D9890-4F9D-4BD7-CFB3-C5A5C95D50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" t="-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98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45424A-68F2-B695-5589-AB75F30DF6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54955" y="1288978"/>
                <a:ext cx="8761413" cy="706964"/>
              </a:xfrm>
            </p:spPr>
            <p:txBody>
              <a:bodyPr/>
              <a:lstStyle/>
              <a:p>
                <a:r>
                  <a:rPr lang="en-IN" sz="2400" b="1" dirty="0"/>
                  <a:t>Establishing Ground Truth (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sz="2400" b="1" dirty="0"/>
                  <a:t>)</a:t>
                </a:r>
                <a:br>
                  <a:rPr lang="en-IN" sz="1800" dirty="0"/>
                </a:br>
                <a:r>
                  <a:rPr lang="en-IN" sz="1800" b="1" dirty="0"/>
                  <a:t>Methodology:</a:t>
                </a:r>
                <a:r>
                  <a:rPr lang="en-IN" sz="1800" dirty="0"/>
                  <a:t> Determining the definitive 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sz="1800" dirty="0"/>
                  <a:t> value (1-5 scale) for the 192 valid clips.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45424A-68F2-B695-5589-AB75F30DF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54955" y="1288978"/>
                <a:ext cx="8761413" cy="706964"/>
              </a:xfrm>
              <a:blipFill>
                <a:blip r:embed="rId2"/>
                <a:stretch>
                  <a:fillRect l="-1043" t="-663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3B6733-F482-7728-2C87-D90B5878F0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Source Logic:</a:t>
                </a:r>
                <a:r>
                  <a:rPr lang="en-IN" dirty="0"/>
                  <a:t> Used Audio-Expressed and Video-Expressed values converted to 1-5 scale.</a:t>
                </a:r>
              </a:p>
              <a:p>
                <a:r>
                  <a:rPr lang="en-IN" b="1" dirty="0"/>
                  <a:t>Selection Rule:</a:t>
                </a:r>
                <a:r>
                  <a:rPr lang="en-IN" dirty="0"/>
                  <a:t> If both useful, selected the modality where </a:t>
                </a:r>
                <a14:m>
                  <m:oMath xmlns:m="http://schemas.openxmlformats.org/officeDocument/2006/math">
                    <m:r>
                      <a:rPr lang="en-IN"/>
                      <m:t>∣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a:rPr lang="ar-AE" i="1"/>
                          <m:t>𝑎𝑣𝑔</m:t>
                        </m:r>
                      </m:sub>
                    </m:sSub>
                    <m:r>
                      <a:rPr lang="ar-AE"/>
                      <m:t>−</m:t>
                    </m:r>
                    <m:r>
                      <a:rPr lang="ar-AE" i="1"/>
                      <m:t>𝑒</m:t>
                    </m:r>
                    <m:r>
                      <a:rPr lang="ar-AE"/>
                      <m:t>∣≤</m:t>
                    </m:r>
                    <m:r>
                      <a:rPr lang="ar-AE"/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b="1" dirty="0"/>
                  <a:t>Tie-Breaker:</a:t>
                </a:r>
                <a:r>
                  <a:rPr lang="en-IN" dirty="0"/>
                  <a:t> If both (or neither) matched, selected the source with the </a:t>
                </a:r>
                <a:r>
                  <a:rPr lang="en-IN" b="1" dirty="0"/>
                  <a:t>minimum Total Error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Outcome:</a:t>
                </a:r>
                <a:r>
                  <a:rPr lang="en-IN" dirty="0"/>
                  <a:t> Generated definitive final_expressed_valence.csv and final_expressed_arousal.csv.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3B6733-F482-7728-2C87-D90B5878F0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" t="-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56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924A77-6327-5162-D5AD-4AE85F9D42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54953" y="973668"/>
                <a:ext cx="9954481" cy="706964"/>
              </a:xfrm>
            </p:spPr>
            <p:txBody>
              <a:bodyPr/>
              <a:lstStyle/>
              <a:p>
                <a:r>
                  <a:rPr lang="en-US" sz="2400" b="1" dirty="0"/>
                  <a:t>Cognitive Success Analysis (</a:t>
                </a:r>
                <a14:m>
                  <m:oMath xmlns:m="http://schemas.openxmlformats.org/officeDocument/2006/math">
                    <m:r>
                      <a:rPr lang="en-US" sz="2400" i="1"/>
                      <m:t>𝑝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vs </a:t>
                </a:r>
                <a14:m>
                  <m:oMath xmlns:m="http://schemas.openxmlformats.org/officeDocument/2006/math">
                    <m:r>
                      <a:rPr lang="en-US" sz="2400" i="1"/>
                      <m:t>𝑒</m:t>
                    </m:r>
                  </m:oMath>
                </a14:m>
                <a:r>
                  <a:rPr lang="en-US" sz="2400" b="1" dirty="0"/>
                  <a:t>)</a:t>
                </a:r>
                <a:br>
                  <a:rPr lang="en-US" sz="2000" dirty="0"/>
                </a:br>
                <a:r>
                  <a:rPr lang="en-US" sz="1800" b="1" dirty="0"/>
                  <a:t>Objective:</a:t>
                </a:r>
                <a:r>
                  <a:rPr lang="en-US" sz="1800" dirty="0"/>
                  <a:t> Quantifying how well the library "communicates" intended emotions.</a:t>
                </a:r>
                <a:endParaRPr lang="en-IN" sz="18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924A77-6327-5162-D5AD-4AE85F9D4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54953" y="973668"/>
                <a:ext cx="9954481" cy="706964"/>
              </a:xfrm>
              <a:blipFill>
                <a:blip r:embed="rId2"/>
                <a:stretch>
                  <a:fillRect l="-919" t="-8621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6F575-2155-AF0F-73E1-7613A98F52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Threshold:</a:t>
                </a:r>
                <a:r>
                  <a:rPr lang="en-IN" dirty="0"/>
                  <a:t> A clip is "Cognitively Successful" if </a:t>
                </a:r>
                <a14:m>
                  <m:oMath xmlns:m="http://schemas.openxmlformats.org/officeDocument/2006/math">
                    <m:r>
                      <a:rPr lang="en-IN"/>
                      <m:t>∣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a:rPr lang="ar-AE" i="1"/>
                          <m:t>𝑎𝑣𝑔</m:t>
                        </m:r>
                      </m:sub>
                    </m:sSub>
                    <m:r>
                      <a:rPr lang="ar-AE"/>
                      <m:t>−</m:t>
                    </m:r>
                    <m:r>
                      <a:rPr lang="ar-AE" i="1"/>
                      <m:t>𝑒</m:t>
                    </m:r>
                    <m:r>
                      <a:rPr lang="ar-AE"/>
                      <m:t>∣≤</m:t>
                    </m:r>
                    <m:r>
                      <a:rPr lang="ar-AE"/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b="1" dirty="0"/>
                  <a:t>Valence Result:</a:t>
                </a:r>
                <a:r>
                  <a:rPr lang="en-IN" dirty="0"/>
                  <a:t> </a:t>
                </a:r>
                <a:r>
                  <a:rPr lang="en-IN" b="1" dirty="0"/>
                  <a:t>166 out of 192</a:t>
                </a:r>
                <a:r>
                  <a:rPr lang="en-IN" dirty="0"/>
                  <a:t> clips (86%) satisfied the condition.</a:t>
                </a:r>
              </a:p>
              <a:p>
                <a:r>
                  <a:rPr lang="en-IN" b="1" dirty="0"/>
                  <a:t>Arousal Result:</a:t>
                </a:r>
                <a:r>
                  <a:rPr lang="en-IN" dirty="0"/>
                  <a:t> </a:t>
                </a:r>
                <a:r>
                  <a:rPr lang="en-IN" b="1" dirty="0"/>
                  <a:t>104 out of 192</a:t>
                </a:r>
                <a:r>
                  <a:rPr lang="en-IN" dirty="0"/>
                  <a:t> clips (54%) satisfied the condition.</a:t>
                </a:r>
              </a:p>
              <a:p>
                <a:r>
                  <a:rPr lang="en-IN" b="1" dirty="0"/>
                  <a:t>Significance:</a:t>
                </a:r>
                <a:r>
                  <a:rPr lang="en-IN" dirty="0"/>
                  <a:t> High Valence match proves users consistently identify the </a:t>
                </a:r>
                <a:r>
                  <a:rPr lang="en-IN" i="1" dirty="0"/>
                  <a:t>type</a:t>
                </a:r>
                <a:r>
                  <a:rPr lang="en-IN" dirty="0"/>
                  <a:t> of emotion (Happy vs. Sad), even if </a:t>
                </a:r>
                <a:r>
                  <a:rPr lang="en-IN" i="1" dirty="0"/>
                  <a:t>intensity</a:t>
                </a:r>
                <a:r>
                  <a:rPr lang="en-IN" dirty="0"/>
                  <a:t> (Arousal) varies.</a:t>
                </a:r>
              </a:p>
              <a:p>
                <a:r>
                  <a:rPr lang="en-IN" b="1" dirty="0"/>
                  <a:t>Deliverable:</a:t>
                </a:r>
                <a:r>
                  <a:rPr lang="en-IN" dirty="0"/>
                  <a:t> pe_match_valence.csv (166 clips) and pe_match_arousal.csv (104 clips).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6F575-2155-AF0F-73E1-7613A98F52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" t="-10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54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87214D-EDA9-72B3-12E4-FCD9BFCF480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54953" y="973668"/>
                <a:ext cx="9534068" cy="706964"/>
              </a:xfrm>
            </p:spPr>
            <p:txBody>
              <a:bodyPr/>
              <a:lstStyle/>
              <a:p>
                <a:r>
                  <a:rPr lang="en-US" sz="2400" b="1" dirty="0"/>
                  <a:t>The "Mind vs. Body" Gap (</a:t>
                </a:r>
                <a14:m>
                  <m:oMath xmlns:m="http://schemas.openxmlformats.org/officeDocument/2006/math">
                    <m:r>
                      <a:rPr lang="en-US" sz="2400" i="1"/>
                      <m:t>𝑝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vs </a:t>
                </a:r>
                <a14:m>
                  <m:oMath xmlns:m="http://schemas.openxmlformats.org/officeDocument/2006/math">
                    <m:r>
                      <a:rPr lang="en-US" sz="2400" i="1"/>
                      <m:t>𝑖</m:t>
                    </m:r>
                  </m:oMath>
                </a14:m>
                <a:r>
                  <a:rPr lang="en-US" sz="2400" b="1" dirty="0"/>
                  <a:t>)</a:t>
                </a:r>
                <a:br>
                  <a:rPr lang="en-US" sz="1800" dirty="0"/>
                </a:br>
                <a:r>
                  <a:rPr lang="en-US" sz="1800" b="1" dirty="0"/>
                  <a:t>Objective:</a:t>
                </a:r>
                <a:r>
                  <a:rPr lang="en-US" sz="1800" dirty="0"/>
                  <a:t> Comparing Self-Reported Resonance vs. Physiological Resonance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87214D-EDA9-72B3-12E4-FCD9BFCF4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54953" y="973668"/>
                <a:ext cx="9534068" cy="706964"/>
              </a:xfrm>
              <a:blipFill>
                <a:blip r:embed="rId2"/>
                <a:stretch>
                  <a:fillRect l="-959" t="-28448" b="-5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B7D3C-28CE-5B07-6A24-564F1E7DF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116" y="2448910"/>
                <a:ext cx="11445767" cy="412005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Reported Resonance (</a:t>
                </a:r>
                <a14:m>
                  <m:oMath xmlns:m="http://schemas.openxmlformats.org/officeDocument/2006/math">
                    <m:r>
                      <a:rPr lang="en-IN"/>
                      <m:t>∣</m:t>
                    </m:r>
                    <m:r>
                      <a:rPr lang="en-IN" i="1"/>
                      <m:t>𝑝</m:t>
                    </m:r>
                    <m:r>
                      <a:rPr lang="en-IN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𝑖</m:t>
                        </m:r>
                      </m:e>
                      <m:sub>
                        <m:r>
                          <a:rPr lang="ar-AE" i="1"/>
                          <m:t>𝑟𝑒𝑝𝑜𝑟𝑡𝑒𝑑</m:t>
                        </m:r>
                      </m:sub>
                    </m:sSub>
                    <m:r>
                      <a:rPr lang="ar-AE"/>
                      <m:t>∣≤</m:t>
                    </m:r>
                    <m:r>
                      <a:rPr lang="ar-AE"/>
                      <m:t>1</m:t>
                    </m:r>
                  </m:oMath>
                </a14:m>
                <a:r>
                  <a:rPr lang="en-IN" b="1" dirty="0"/>
                  <a:t>):</a:t>
                </a:r>
                <a:endParaRPr lang="ar-AE" b="1" dirty="0"/>
              </a:p>
              <a:p>
                <a:pPr lvl="1"/>
                <a:r>
                  <a:rPr lang="ar-AE" b="1" dirty="0"/>
                  <a:t>100%</a:t>
                </a:r>
                <a:r>
                  <a:rPr lang="ar-AE" dirty="0"/>
                  <a:t> </a:t>
                </a:r>
                <a:r>
                  <a:rPr lang="en-IN" dirty="0"/>
                  <a:t> match (166/166 Valence, 104/104 Arousal). Users </a:t>
                </a:r>
                <a:r>
                  <a:rPr lang="en-IN" i="1" dirty="0"/>
                  <a:t>claimed</a:t>
                </a:r>
                <a:r>
                  <a:rPr lang="en-IN" dirty="0"/>
                  <a:t> they felt what they understood.</a:t>
                </a:r>
              </a:p>
              <a:p>
                <a:r>
                  <a:rPr lang="en-IN" b="1" dirty="0"/>
                  <a:t>Physiological Resonance (</a:t>
                </a:r>
                <a14:m>
                  <m:oMath xmlns:m="http://schemas.openxmlformats.org/officeDocument/2006/math">
                    <m:r>
                      <a:rPr lang="en-IN"/>
                      <m:t>∣</m:t>
                    </m:r>
                    <m:r>
                      <a:rPr lang="en-IN" i="1"/>
                      <m:t>𝑝</m:t>
                    </m:r>
                    <m:r>
                      <a:rPr lang="en-IN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𝑖</m:t>
                        </m:r>
                      </m:e>
                      <m:sub>
                        <m:r>
                          <a:rPr lang="ar-AE" i="1"/>
                          <m:t>𝑖𝑛𝑓𝑒𝑟𝑟𝑒𝑑</m:t>
                        </m:r>
                      </m:sub>
                    </m:sSub>
                    <m:r>
                      <a:rPr lang="ar-AE"/>
                      <m:t>∣≤</m:t>
                    </m:r>
                    <m:r>
                      <a:rPr lang="ar-AE"/>
                      <m:t>1</m:t>
                    </m:r>
                  </m:oMath>
                </a14:m>
                <a:r>
                  <a:rPr lang="en-IN" b="1" dirty="0"/>
                  <a:t>):</a:t>
                </a:r>
                <a:endParaRPr lang="ar-AE" b="1" dirty="0"/>
              </a:p>
              <a:p>
                <a:pPr lvl="1"/>
                <a:r>
                  <a:rPr lang="en-IN" b="1" dirty="0"/>
                  <a:t>66%</a:t>
                </a:r>
                <a:r>
                  <a:rPr lang="ar-AE" b="1" dirty="0"/>
                  <a:t>(110/166)</a:t>
                </a:r>
                <a:r>
                  <a:rPr lang="ar-AE" dirty="0"/>
                  <a:t> </a:t>
                </a:r>
                <a:r>
                  <a:rPr lang="en-IN" dirty="0"/>
                  <a:t> of Valence clips matched.</a:t>
                </a:r>
              </a:p>
              <a:p>
                <a:pPr lvl="1"/>
                <a:r>
                  <a:rPr lang="en-IN" b="1" dirty="0"/>
                  <a:t>67% (70/104)</a:t>
                </a:r>
                <a:r>
                  <a:rPr lang="en-IN" dirty="0"/>
                  <a:t> of Arousal clips matched.</a:t>
                </a:r>
              </a:p>
              <a:p>
                <a:r>
                  <a:rPr lang="en-IN" b="1" dirty="0"/>
                  <a:t>Analysis:</a:t>
                </a:r>
                <a:r>
                  <a:rPr lang="en-IN" dirty="0"/>
                  <a:t> 56 Valence clips and 34 Arousal clips showed "Hidden Drift"—users reported an emotion, but their heart rate did not reflect it.</a:t>
                </a:r>
              </a:p>
              <a:p>
                <a:r>
                  <a:rPr lang="en-US" b="1" dirty="0"/>
                  <a:t>Final "Bio-Active" Library:</a:t>
                </a:r>
                <a:r>
                  <a:rPr lang="en-US" dirty="0"/>
                  <a:t> We filtered out the mismatches to retain only the </a:t>
                </a:r>
                <a:r>
                  <a:rPr lang="en-US" b="1" dirty="0"/>
                  <a:t>Physiologically Verified</a:t>
                </a:r>
                <a:r>
                  <a:rPr lang="en-US" dirty="0"/>
                  <a:t> set:</a:t>
                </a:r>
              </a:p>
              <a:p>
                <a:pPr lvl="1"/>
                <a:r>
                  <a:rPr lang="en-US" b="1" dirty="0"/>
                  <a:t>110 Valence Clips</a:t>
                </a:r>
                <a:r>
                  <a:rPr lang="en-US" dirty="0"/>
                  <a:t> (Verified Happy/Sad impact).</a:t>
                </a:r>
              </a:p>
              <a:p>
                <a:pPr lvl="1"/>
                <a:r>
                  <a:rPr lang="en-US" b="1" dirty="0"/>
                  <a:t>70 Arousal Clips</a:t>
                </a:r>
                <a:r>
                  <a:rPr lang="en-US" dirty="0"/>
                  <a:t> (Verified Calm/Excited impact).</a:t>
                </a:r>
              </a:p>
              <a:p>
                <a:r>
                  <a:rPr lang="en-US" b="1" dirty="0"/>
                  <a:t>Conclusion:</a:t>
                </a:r>
                <a:r>
                  <a:rPr lang="en-US" dirty="0"/>
                  <a:t> These specific clips are guaranteed to move both the mind and the body, making them the only valid candidates for therapeutic Emotional Drift.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B7D3C-28CE-5B07-6A24-564F1E7DF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116" y="2448910"/>
                <a:ext cx="11445767" cy="4120055"/>
              </a:xfrm>
              <a:blipFill>
                <a:blip r:embed="rId3"/>
                <a:stretch>
                  <a:fillRect l="-53" t="-1036" r="-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847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260</TotalTime>
  <Words>710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Century Gothic</vt:lpstr>
      <vt:lpstr>Wingdings 3</vt:lpstr>
      <vt:lpstr>Ion Boardroom</vt:lpstr>
      <vt:lpstr>BTP2</vt:lpstr>
      <vt:lpstr>Project Scope &amp; Dataset Objective: Constructing a validated Video Library for Emotional Drift (Therapeutic Application).</vt:lpstr>
      <vt:lpstr>Data Processing &amp; Physiological Inference Methodology: Converting raw signals into emotional data points.</vt:lpstr>
      <vt:lpstr>Technical Filtering (Usefulness Logic) Methodology: Pre-screening clips to remove technical noise (Case 1).</vt:lpstr>
      <vt:lpstr>Establishing Ground Truth (e) Methodology: Determining the definitive e value (1-5 scale) for the 192 valid clips. </vt:lpstr>
      <vt:lpstr>Cognitive Success Analysis (p vs e) Objective: Quantifying how well the library "communicates" intended emotions.</vt:lpstr>
      <vt:lpstr>The "Mind vs. Body" Gap (p vs i) Objective: Comparing Self-Reported Resonance vs. Physiological Resonance.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Utsavi Gohil</dc:creator>
  <cp:lastModifiedBy>Utsavi Gohil</cp:lastModifiedBy>
  <cp:revision>1</cp:revision>
  <dcterms:created xsi:type="dcterms:W3CDTF">2026-01-20T09:30:42Z</dcterms:created>
  <dcterms:modified xsi:type="dcterms:W3CDTF">2026-01-20T13:50:56Z</dcterms:modified>
</cp:coreProperties>
</file>